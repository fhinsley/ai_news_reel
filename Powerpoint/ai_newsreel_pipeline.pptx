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1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55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5603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MEDIA PRODUCTION  ·  CASE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Newsreel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33172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0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7432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RSS feeds to finished broadcast video — fully automated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0" y="4480560"/>
            <a:ext cx="21945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0" y="4480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 ·  2025–2026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0" y="128016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24928" y="128016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17536" y="128016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10144" y="128016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02752" y="128016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0" y="166420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24928" y="166420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17536" y="166420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10144" y="166420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02752" y="166420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0" y="204825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24928" y="204825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17536" y="204825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10144" y="204825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302752" y="204825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2320" y="2432304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424928" y="2432304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17536" y="2432304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10144" y="2432304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02752" y="2432304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32320" y="2816352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24928" y="2816352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17536" y="2816352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10144" y="2816352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302752" y="2816352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32320" y="320040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424928" y="320040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17536" y="320040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010144" y="320040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302752" y="3200400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132320" y="358444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24928" y="358444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717536" y="358444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010144" y="358444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302752" y="3584448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32320" y="396849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424928" y="396849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717536" y="396849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010144" y="396849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302752" y="3968496"/>
            <a:ext cx="54864" cy="54864"/>
          </a:xfrm>
          <a:prstGeom prst="ellipse">
            <a:avLst/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109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Worth Solving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28600" y="1645920"/>
            <a:ext cx="4297680" cy="2560320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4297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news digest video for internal company meetings — to stay visible during a career transition from engineering to data science.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4297680" cy="2560320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297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extracurricular. No budget, no team, no formal credit. Must be repeatable every week without manual effort eating up all the ROI.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" y="4343400"/>
            <a:ext cx="8686800" cy="548640"/>
          </a:xfrm>
          <a:prstGeom prst="rect">
            <a:avLst/>
          </a:prstGeom>
          <a:solidFill>
            <a:srgbClr val="0D1626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437083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C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"Let the job find me" — visibility through demonstrated craft, not resume keywords.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109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Five-Stage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1168" y="1508760"/>
            <a:ext cx="1664208" cy="2926080"/>
          </a:xfrm>
          <a:prstGeom prst="rect">
            <a:avLst/>
          </a:prstGeom>
          <a:solidFill>
            <a:srgbClr val="1C2537"/>
          </a:solidFill>
          <a:ln w="25400">
            <a:solidFill>
              <a:srgbClr val="00C8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1508760"/>
            <a:ext cx="1664208" cy="2926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5361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" y="242316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Sources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&amp; parse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83664" y="2880360"/>
            <a:ext cx="91440" cy="36576"/>
          </a:xfrm>
          <a:prstGeom prst="rect">
            <a:avLst/>
          </a:prstGeom>
          <a:solidFill>
            <a:srgbClr val="8B9BBE"/>
          </a:solidFill>
          <a:ln w="12700">
            <a:solidFill>
              <a:srgbClr val="8B9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66544" y="1508760"/>
            <a:ext cx="1664208" cy="2926080"/>
          </a:xfrm>
          <a:prstGeom prst="rect">
            <a:avLst/>
          </a:prstGeom>
          <a:solidFill>
            <a:srgbClr val="1C2537"/>
          </a:solidFill>
          <a:ln w="254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66544" y="1508760"/>
            <a:ext cx="1664208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57984" y="15361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39696" y="18745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57984" y="242316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Formatted copy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2880360"/>
            <a:ext cx="91440" cy="36576"/>
          </a:xfrm>
          <a:prstGeom prst="rect">
            <a:avLst/>
          </a:prstGeom>
          <a:solidFill>
            <a:srgbClr val="8B9BBE"/>
          </a:solidFill>
          <a:ln w="12700">
            <a:solidFill>
              <a:srgbClr val="8B9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931920" y="1508760"/>
            <a:ext cx="1664208" cy="2926080"/>
          </a:xfrm>
          <a:prstGeom prst="rect">
            <a:avLst/>
          </a:prstGeom>
          <a:solidFill>
            <a:srgbClr val="1C2537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31920" y="1508760"/>
            <a:ext cx="166420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023360" y="15361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05072" y="18745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23360" y="242316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MP3 + timestamps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14416" y="2880360"/>
            <a:ext cx="91440" cy="36576"/>
          </a:xfrm>
          <a:prstGeom prst="rect">
            <a:avLst/>
          </a:prstGeom>
          <a:solidFill>
            <a:srgbClr val="8B9BBE"/>
          </a:solidFill>
          <a:ln w="12700">
            <a:solidFill>
              <a:srgbClr val="8B9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97296" y="1508760"/>
            <a:ext cx="1664208" cy="2926080"/>
          </a:xfrm>
          <a:prstGeom prst="rect">
            <a:avLst/>
          </a:prstGeom>
          <a:solidFill>
            <a:srgbClr val="1C2537"/>
          </a:solidFill>
          <a:ln w="254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97296" y="1508760"/>
            <a:ext cx="16642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88736" y="15361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70448" y="18745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88736" y="242316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 · silence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79792" y="2880360"/>
            <a:ext cx="91440" cy="36576"/>
          </a:xfrm>
          <a:prstGeom prst="rect">
            <a:avLst/>
          </a:prstGeom>
          <a:solidFill>
            <a:srgbClr val="8B9BBE"/>
          </a:solidFill>
          <a:ln w="12700">
            <a:solidFill>
              <a:srgbClr val="8B9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62672" y="1508760"/>
            <a:ext cx="1664208" cy="2926080"/>
          </a:xfrm>
          <a:prstGeom prst="rect">
            <a:avLst/>
          </a:prstGeom>
          <a:solidFill>
            <a:srgbClr val="1C2537"/>
          </a:solidFill>
          <a:ln w="25400">
            <a:solidFill>
              <a:srgbClr val="F9731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62672" y="1508760"/>
            <a:ext cx="16642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54112" y="153619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35824" y="187452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754112" y="242316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MoviePy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MP4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" y="4526280"/>
            <a:ext cx="8741664" cy="402336"/>
          </a:xfrm>
          <a:prstGeom prst="rect">
            <a:avLst/>
          </a:prstGeom>
          <a:solidFill>
            <a:srgbClr val="0D1626"/>
          </a:solidFill>
          <a:ln w="12700">
            <a:solidFill>
              <a:srgbClr val="8B9B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84048" y="4544568"/>
            <a:ext cx="8375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  ·  All constants centralized — no magic values in execution files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109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MODULES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82880" y="1508760"/>
            <a:ext cx="2834640" cy="3337560"/>
          </a:xfrm>
          <a:prstGeom prst="rect">
            <a:avLst/>
          </a:prstGeom>
          <a:solidFill>
            <a:srgbClr val="1C2537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50876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newsreel_tts.py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API — model selection: turbo vs. multilingual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MP3 + character-level timestamps JSON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 stripping critical before API call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82112" y="1508760"/>
            <a:ext cx="2834640" cy="3337560"/>
          </a:xfrm>
          <a:prstGeom prst="rect">
            <a:avLst/>
          </a:prstGeom>
          <a:solidFill>
            <a:srgbClr val="1C2537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82112" y="1508760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9272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silence_artifacts.py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9272" y="2121408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&lt;break&gt; tag artifacts in audio waveform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Silences detected regions in-place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metallic pops from reaching final mix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508760"/>
            <a:ext cx="2834640" cy="3337560"/>
          </a:xfrm>
          <a:prstGeom prst="rect">
            <a:avLst/>
          </a:prstGeom>
          <a:solidFill>
            <a:srgbClr val="1C2537"/>
          </a:solidFill>
          <a:ln w="19050">
            <a:solidFill>
              <a:srgbClr val="00C8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508760"/>
            <a:ext cx="28346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build_video.py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18504" y="2121408"/>
            <a:ext cx="2560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MoviePy 2.x — breaking import changes vs 1.x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video cycles at section + story breaks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title overlay: center prominent → bottom-right reminder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109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Broke and What We Learned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01168" y="1508760"/>
            <a:ext cx="4297680" cy="987552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" y="1508760"/>
            <a:ext cx="5029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ElevenLabs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 vs. multilingual behave differently on pause artifacts — model selection is not cosmetic.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508760"/>
            <a:ext cx="4297680" cy="987552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508760"/>
            <a:ext cx="5029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82312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Tag Artifacts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2312" y="1856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&lt;break&gt; tags in SSML generate metallic pops. Detected via waveform analysis; silenced in post.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168" y="2624328"/>
            <a:ext cx="4297680" cy="987552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01168" y="2624328"/>
            <a:ext cx="5029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Newline Stripping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newlines in script text cause silent API failures. Strip before every TTS call.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624328"/>
            <a:ext cx="4297680" cy="987552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2624328"/>
            <a:ext cx="5029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82312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Post-Process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82312" y="2971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0.9× speed via atempo + 2-second intro delay applied cleanly in ffmpeg, not MoviePy.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01168" y="3739896"/>
            <a:ext cx="4297680" cy="987552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1168" y="3739896"/>
            <a:ext cx="5029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813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MoviePy 2.x Imports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0873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paths changed significantly from 1.x — not a drop-in upgrade. Verify each import.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3739896"/>
            <a:ext cx="4297680" cy="987552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3739896"/>
            <a:ext cx="50292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82312" y="3813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 Speed Adjust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82312" y="40873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char timestamps must be divided by speed factor (0.9) to stay in sync post-slowdown.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1097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749808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Tools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1168" y="1481328"/>
            <a:ext cx="4251960" cy="1554480"/>
          </a:xfrm>
          <a:prstGeom prst="rect">
            <a:avLst/>
          </a:prstGeom>
          <a:solidFill>
            <a:srgbClr val="1C2537"/>
          </a:solidFill>
          <a:ln w="1905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385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RSS / web sources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90872" y="1481328"/>
            <a:ext cx="4251960" cy="1554480"/>
          </a:xfrm>
          <a:prstGeom prst="rect">
            <a:avLst/>
          </a:prstGeom>
          <a:solidFill>
            <a:srgbClr val="1C2537"/>
          </a:solidFill>
          <a:ln w="19050">
            <a:solidFill>
              <a:srgbClr val="00C8F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55464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/ Video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55464" y="19385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— speed, silence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MoviePy 2.x — assembly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timestamps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" y="3218688"/>
            <a:ext cx="4251960" cy="1554480"/>
          </a:xfrm>
          <a:prstGeom prst="rect">
            <a:avLst/>
          </a:prstGeom>
          <a:solidFill>
            <a:srgbClr val="1C2537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6758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BeautifulSoup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pathlib / os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(ffmpeg)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90872" y="3218688"/>
            <a:ext cx="4251960" cy="1554480"/>
          </a:xfrm>
          <a:prstGeom prst="rect">
            <a:avLst/>
          </a:prstGeom>
          <a:solidFill>
            <a:srgbClr val="1C2537"/>
          </a:solidFill>
          <a:ln w="1905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55464" y="3310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55464" y="367588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 — single source of truth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files per concern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constants in execution files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3200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228600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keywords — internal decision-makers see the work, not just the title.
</a:t>
            </a:r>
            <a:r>
              <a:rPr lang="en-US" sz="13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craft</a:t>
            </a: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GenAI tooling, API orchestration, and data pipeline thinking.
</a:t>
            </a:r>
            <a:r>
              <a:rPr lang="en-US" sz="13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delivery</a:t>
            </a:r>
            <a:r>
              <a:rPr lang="en-US" sz="13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weekly cadence signals reliability, not just capability.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63440" y="594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Next Steps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251960" cy="749808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73168" y="1490472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74920" y="1325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weekly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636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internal distribution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251960" cy="749808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73168" y="2404872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74920" y="2240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discussion group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551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morning — pipeline demoed live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251960" cy="749808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73168" y="3319272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74920" y="3154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goal working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collaboration approach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977640"/>
            <a:ext cx="4251960" cy="749808"/>
          </a:xfrm>
          <a:prstGeom prst="rect">
            <a:avLst/>
          </a:prstGeom>
          <a:solidFill>
            <a:srgbClr val="1C2537"/>
          </a:solidFill>
          <a:ln w="12700">
            <a:solidFill>
              <a:srgbClr val="2A355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73168" y="4233672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7492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auto-scheduling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4379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lights-out publishing pipeline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4754880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47548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M.S. Data Science · Dec 2025  ·  Mutual of Omaha  ·  Workplace Solutions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537</Words>
  <Application>Microsoft Macintosh PowerPoint</Application>
  <PresentationFormat>On-screen Show (16:9)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Newsreel Pipeline</dc:title>
  <dc:subject>PptxGenJS Presentation</dc:subject>
  <dc:creator>PptxGenJS</dc:creator>
  <cp:lastModifiedBy>Fred Hinsley</cp:lastModifiedBy>
  <cp:revision>1</cp:revision>
  <dcterms:created xsi:type="dcterms:W3CDTF">2026-04-02T14:26:20Z</dcterms:created>
  <dcterms:modified xsi:type="dcterms:W3CDTF">2026-04-02T14:48:07Z</dcterms:modified>
</cp:coreProperties>
</file>